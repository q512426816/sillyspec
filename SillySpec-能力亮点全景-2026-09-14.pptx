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代码构成</c:v>
                </c:pt>
              </c:strCache>
            </c:strRef>
          </c:tx>
          <c:spPr>
            <a:solidFill>
              <a:srgbClr val="9CC5B4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CC5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FA8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D5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1C2B26"/>
                    </a:solidFill>
                    <a:latin typeface="Consolas" panose="020B060902020403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持久化</c:v>
                </c:pt>
                <c:pt idx="1">
                  <c:v>多 agent 协调</c:v>
                </c:pt>
                <c:pt idx="2">
                  <c:v>流程编排与 prompt</c:v>
                </c:pt>
                <c:pt idx="3">
                  <c:v>验证门禁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14</c:v>
                </c:pt>
                <c:pt idx="2">
                  <c:v>29</c:v>
                </c:pt>
                <c:pt idx="3">
                  <c:v>33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50" b="0" i="0" u="none" strike="noStrike" kern="1200" baseline="0">
                <a:solidFill>
                  <a:srgbClr val="1C2B26"/>
                </a:solidFill>
                <a:latin typeface="微软雅黑" panose="020B0503020204020204" pitchFamily="34" charset="-122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10415f6-cb02-40fa-8476-0f678f7010ca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对外推广与介绍的能力基准稿。数字 as of 2026-09-14，v3.28.8；来源：docs/sillyspec/capability-highlights-2026-09-14.md。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三句话面向三类听众，同一事实的三种讲法。对 VPE 讲「账本+验收层」，对重度用户讲「撒谎也过不了门禁」，技术口径是流程状态机 CLI。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叙事纪律：先讲多 agent 并行仓库的具体痛点（撞车/误归属/谎报/失忆），再引出机制；反过来讲会变成功能清单背诵。每个痛点对应一层护城河机制。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对比只讲纪律存在形式（注意力 vs 外部状态）的差异，不贬竞品功能——文本纪律在模糊需求、低纪律用户场景仍有效。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第一层是护城河：以外部状态存在（进程/磁盘/服务器），模型能力上涨不贬值。往下三层依次是机械对账、流程协作、自我运维。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不是一把锁把 agent 串行化，是三层机制各对应真实踩过的事故：隔离让冲突尽量不发生，归属分清谁改的，竞态硬门处理撞上的情况。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核心区分：验收是概率分布（模型自报）还是确定性事件（CLI 实测）。左侧流程是门禁链：自报→亲测→不符→阻断+回滚。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账本层：SQLite 是权威进度源，quicklog 是追加式结构化台账；对比 harness 自带记忆是有损压缩+单厂商锁定。跨仓变更隔离管理目前没有已知同类。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第二层全是机械核验，零模型轮次：范围对账、API 契约矩阵、文档棘轮、noAI 下沉、IR 事实层。模型越强，可下沉的机械轮次越多——成本结构与模型能力同向。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阶段状态机不能跳步；plan 自动拓扑排序做 Wave 并行；审查体系带 provenance；审批答复落库跨会话不丢；跨机派发扩展并行度。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工具量化自己的摩擦喂改进循环：摩擦计数带隐私红线（不落提示词原文）；eval 框架让「上量 vs 不上量」的能力 claims 用数据说话。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验证门禁约占三分之一代码——这是产品重心的直接证据。测试：463 文件 / 826 用例 / 3,357 断言全量通过。纯客户端，7 个运行时依赖。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四个标准回应的核心：①概率右移消灭不了确定性事件的失效条件 ②派发越多协调越刚需 ③流程重量随规模缩放 ④被卸载的是文本纪律那半。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诚实边界是信任资产：TDD 措辞、语义判断归属、quick 定位、单人场景价值打折、平台可选——推广时主动说清。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收尾回到核心命题：文本纪律随模型智商通胀，确定性门禁不贬值。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6" Type="http://schemas.openxmlformats.org/officeDocument/2006/relationships/notesSlide" Target="../notesSlides/notesSlide11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9DB3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SILLYSPEC · 能力亮点基准稿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834640" cy="420624"/>
          </a:xfrm>
          <a:prstGeom prst="roundRect">
            <a:avLst>
              <a:gd name="adj" fmla="val 13043"/>
            </a:avLst>
          </a:prstGeom>
          <a:solidFill>
            <a:srgbClr val="1B2F27"/>
          </a:solidFill>
        </p:spPr>
      </p:sp>
      <p:sp>
        <p:nvSpPr>
          <p:cNvPr id="4" name="Text 2"/>
          <p:cNvSpPr/>
          <p:nvPr/>
        </p:nvSpPr>
        <p:spPr>
          <a:xfrm>
            <a:off x="676656" y="1188720"/>
            <a:ext cx="20116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›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77824" y="1188720"/>
            <a:ext cx="24688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2E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sillyspec --version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566160" y="1188720"/>
            <a:ext cx="13716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D6C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v3.28.8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91440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SillySpec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548640" y="3218688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9D6C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 agent 仓库的变更账本 + 确定性验收层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3785616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DB3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别的 skill 教 AI 守规矩，SillySpec 让 AI 撒谎也过不了门禁。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498848"/>
            <a:ext cx="228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70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04672" y="45262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sillyspec run &lt;stage&gt;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5486400"/>
            <a:ext cx="26517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67,975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8640" y="5943600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3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行源码 · 125 个 JS 模块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73552" y="5532120"/>
            <a:ext cx="0" cy="658368"/>
          </a:xfrm>
          <a:prstGeom prst="line">
            <a:avLst/>
          </a:prstGeom>
          <a:noFill/>
          <a:ln w="12700">
            <a:solidFill>
              <a:srgbClr val="2640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5486400"/>
            <a:ext cx="26517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3,357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429000" y="5943600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3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处断言 · 826 用例全量通过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53912" y="5532120"/>
            <a:ext cx="0" cy="658368"/>
          </a:xfrm>
          <a:prstGeom prst="line">
            <a:avLst/>
          </a:prstGeom>
          <a:noFill/>
          <a:ln w="12700">
            <a:solidFill>
              <a:srgbClr val="2640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5486400"/>
            <a:ext cx="26517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78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309360" y="5943600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3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个归档变更 · 含设计与验收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34272" y="5532120"/>
            <a:ext cx="0" cy="658368"/>
          </a:xfrm>
          <a:prstGeom prst="line">
            <a:avLst/>
          </a:prstGeom>
          <a:noFill/>
          <a:ln w="12700">
            <a:solidFill>
              <a:srgbClr val="2640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9720" y="5486400"/>
            <a:ext cx="26517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189720" y="5943600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3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种 harness 适配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3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docs/sillyspec/capability-highlights-2026-09-14.md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40880" y="6455664"/>
            <a:ext cx="45994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DB3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as of 2026-09-14 · v3.28.8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电梯稿 · 按受众选一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一句话定位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5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给工程负责人 / VPE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08813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 agent 仓库的变更账本 + 确定性验收层：隔离、归属、竞态协调、验收防谎报、跨会话恢复——模型能力永远覆盖不到的部分。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816352"/>
            <a:ext cx="11091672" cy="0"/>
          </a:xfrm>
          <a:prstGeom prst="line">
            <a:avLst/>
          </a:prstGeom>
          <a:noFill/>
          <a:ln w="9525">
            <a:solidFill>
              <a:srgbClr val="DCE7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999232"/>
            <a:ext cx="12188952" cy="1572768"/>
          </a:xfrm>
          <a:prstGeom prst="rect">
            <a:avLst/>
          </a:prstGeom>
          <a:solidFill>
            <a:srgbClr val="E7F2EE"/>
          </a:solidFill>
        </p:spPr>
      </p:sp>
      <p:sp>
        <p:nvSpPr>
          <p:cNvPr id="8" name="Text 6"/>
          <p:cNvSpPr/>
          <p:nvPr/>
        </p:nvSpPr>
        <p:spPr>
          <a:xfrm>
            <a:off x="548640" y="3182112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5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给 AI 编程工具重度用户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241280" y="3163824"/>
            <a:ext cx="1399032" cy="365760"/>
          </a:xfrm>
          <a:prstGeom prst="roundRect">
            <a:avLst>
              <a:gd name="adj" fmla="val 20000"/>
            </a:avLst>
          </a:prstGeom>
          <a:solidFill>
            <a:srgbClr val="D97706"/>
          </a:solidFill>
        </p:spPr>
      </p:sp>
      <p:sp>
        <p:nvSpPr>
          <p:cNvPr id="10" name="Text 8"/>
          <p:cNvSpPr/>
          <p:nvPr/>
        </p:nvSpPr>
        <p:spPr>
          <a:xfrm>
            <a:off x="10241280" y="3163824"/>
            <a:ext cx="13990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最锋利的一句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别的 skill 教 AI 守规矩，SillySpec 让 AI 撒谎也过不了门禁——测试是 CLI 亲自跑的，进度是 SQLite 记的，中断了随时续跑，多 agent 并行也不串线。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48640" y="4956048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5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技术一句话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5276088"/>
            <a:ext cx="108813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约 68K 行流程状态机 CLI：spec 驱动的阶段流转 + 实测验收门禁 + 多写者并发控制 + 跨仓 worktree 隔离——模型无关、harness 无关、仓库内自包含。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789920" y="6382512"/>
            <a:ext cx="8503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766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场景优先 · 痛点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 agent 并行仓库的四类事故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2670048" cy="2697480"/>
          </a:xfrm>
          <a:prstGeom prst="roundRect">
            <a:avLst>
              <a:gd name="adj" fmla="val 2055"/>
            </a:avLst>
          </a:prstGeom>
          <a:solidFill>
            <a:srgbClr val="F3F7F5"/>
          </a:solidFill>
        </p:spPr>
      </p:sp>
      <p:sp>
        <p:nvSpPr>
          <p:cNvPr id="5" name="Text 3"/>
          <p:cNvSpPr/>
          <p:nvPr/>
        </p:nvSpPr>
        <p:spPr>
          <a:xfrm>
            <a:off x="749808" y="1810512"/>
            <a:ext cx="1097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E5A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01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49808" y="248716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撞车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49808" y="292608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A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两个 agent 同时改同一处，互相覆盖；ql-ID 撞号、锁丢失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395020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76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护城河 1.1 并发控制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55848" y="1627632"/>
            <a:ext cx="2670048" cy="2697480"/>
          </a:xfrm>
          <a:prstGeom prst="roundRect">
            <a:avLst>
              <a:gd name="adj" fmla="val 2055"/>
            </a:avLst>
          </a:prstGeom>
          <a:solidFill>
            <a:srgbClr val="F3F7F5"/>
          </a:solidFill>
        </p:spPr>
      </p:sp>
      <p:sp>
        <p:nvSpPr>
          <p:cNvPr id="10" name="Text 8"/>
          <p:cNvSpPr/>
          <p:nvPr/>
        </p:nvSpPr>
        <p:spPr>
          <a:xfrm>
            <a:off x="3557016" y="1810512"/>
            <a:ext cx="1097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E5A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557016" y="248716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误归属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557016" y="292608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A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窗口 diff 说不清是谁改的，审计与回滚断链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57016" y="395020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76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护城河 1.1 归属审计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63056" y="1627632"/>
            <a:ext cx="2670048" cy="2697480"/>
          </a:xfrm>
          <a:prstGeom prst="roundRect">
            <a:avLst>
              <a:gd name="adj" fmla="val 2055"/>
            </a:avLst>
          </a:prstGeom>
          <a:solidFill>
            <a:srgbClr val="F3F7F5"/>
          </a:solidFill>
        </p:spPr>
      </p:sp>
      <p:sp>
        <p:nvSpPr>
          <p:cNvPr id="15" name="Text 13"/>
          <p:cNvSpPr/>
          <p:nvPr/>
        </p:nvSpPr>
        <p:spPr>
          <a:xfrm>
            <a:off x="6364224" y="1810512"/>
            <a:ext cx="1097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E5A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364224" y="248716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谎报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364224" y="292608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A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自报「测试通过」，实际根本没跑；文档与代码脱节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64224" y="395020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76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护城河 1.2 实测验收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70264" y="1627632"/>
            <a:ext cx="2670048" cy="2697480"/>
          </a:xfrm>
          <a:prstGeom prst="roundRect">
            <a:avLst>
              <a:gd name="adj" fmla="val 2055"/>
            </a:avLst>
          </a:prstGeom>
          <a:solidFill>
            <a:srgbClr val="F3F7F5"/>
          </a:solidFill>
        </p:spPr>
      </p:sp>
      <p:sp>
        <p:nvSpPr>
          <p:cNvPr id="20" name="Text 18"/>
          <p:cNvSpPr/>
          <p:nvPr/>
        </p:nvSpPr>
        <p:spPr>
          <a:xfrm>
            <a:off x="9171432" y="1810512"/>
            <a:ext cx="1097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E5A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04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9171432" y="248716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失忆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171432" y="292608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A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会话一断、配额一停，进度全丢，第二天从头再来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71432" y="395020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76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护城河 1.3 持久账本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754880"/>
            <a:ext cx="11091672" cy="0"/>
          </a:xfrm>
          <a:prstGeom prst="line">
            <a:avLst/>
          </a:prstGeom>
          <a:noFill/>
          <a:ln w="9525">
            <a:solidFill>
              <a:srgbClr val="DCE7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956048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E5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模型再聪明，也看不到另一个进程此刻在盘上写了什么。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548640" y="5559552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A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这是模型能力永远覆盖不到的部分——只有外部状态（进程 · 磁盘 · 服务器）能覆盖，这就是 SillySpec 的位置。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789920" y="6382512"/>
            <a:ext cx="8503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766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本质区别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纪律活在注意力里，还是活在外部状态里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548640" y="1572768"/>
          <a:ext cx="11091672" cy="3858768"/>
        </p:xfrm>
        <a:graphic>
          <a:graphicData uri="http://schemas.openxmlformats.org/drawingml/2006/table">
            <a:tbl>
              <a:tblPr/>
              <a:tblGrid>
                <a:gridCol w="1737360"/>
                <a:gridCol w="4526280"/>
                <a:gridCol w="4828032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4454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文本纪律类（Superpowers / OpenSpec / SpecKit）</a:t>
                      </a:r>
                      <a:endParaRPr lang="en-US" sz="13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SillySpec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5A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66766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纪律存在形式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B6B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prompt 文本，靠模型读了照做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2B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进程 + SQLite + 文件锁 + 服务器，fail-closed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F2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66766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验收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B6B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靠模型自觉与自报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2B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CLI 亲自执行 test / lint 对账，不符即阻断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F2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66766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 agent 并行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B6B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无原生支持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2B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三级隔离 + 竞态硬门 + 平台乐观锁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F2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66766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断点恢复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B6B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无，会话上下文即全部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2B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SQLite 权威进度库，跨会话跨天续跑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F2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66766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防伪造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B6B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无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2B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docHash 重算比对 + git 交叉对账 + 实测时间线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F2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66766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模型变强时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B6B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价值单调递减，文本被内化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2B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prompt 层持续收缩，门禁层不贬值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F2EE"/>
                    </a:solidFill>
                  </a:tcPr>
                </a:tc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548640" y="2048256"/>
            <a:ext cx="11091672" cy="0"/>
          </a:xfrm>
          <a:prstGeom prst="line">
            <a:avLst/>
          </a:prstGeom>
          <a:noFill/>
          <a:ln w="9525">
            <a:solidFill>
              <a:srgbClr val="0E5A4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2615184"/>
            <a:ext cx="11091672" cy="0"/>
          </a:xfrm>
          <a:prstGeom prst="line">
            <a:avLst/>
          </a:prstGeom>
          <a:noFill/>
          <a:ln w="9525">
            <a:solidFill>
              <a:srgbClr val="DCE7E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3182112"/>
            <a:ext cx="11091672" cy="0"/>
          </a:xfrm>
          <a:prstGeom prst="line">
            <a:avLst/>
          </a:prstGeom>
          <a:noFill/>
          <a:ln w="9525">
            <a:solidFill>
              <a:srgbClr val="DCE7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3749040"/>
            <a:ext cx="11091672" cy="0"/>
          </a:xfrm>
          <a:prstGeom prst="line">
            <a:avLst/>
          </a:prstGeom>
          <a:noFill/>
          <a:ln w="9525">
            <a:solidFill>
              <a:srgbClr val="DCE7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4315968"/>
            <a:ext cx="11091672" cy="0"/>
          </a:xfrm>
          <a:prstGeom prst="line">
            <a:avLst/>
          </a:prstGeom>
          <a:noFill/>
          <a:ln w="9525">
            <a:solidFill>
              <a:srgbClr val="DCE7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4882896"/>
            <a:ext cx="11091672" cy="0"/>
          </a:xfrm>
          <a:prstGeom prst="line">
            <a:avLst/>
          </a:prstGeom>
          <a:noFill/>
          <a:ln w="9525">
            <a:solidFill>
              <a:srgbClr val="DCE7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5650992"/>
            <a:ext cx="11091672" cy="0"/>
          </a:xfrm>
          <a:prstGeom prst="line">
            <a:avLst/>
          </a:prstGeom>
          <a:noFill/>
          <a:ln w="9525">
            <a:solidFill>
              <a:srgbClr val="DCE7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5815584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文本纪律是概率约束，SillySpec 是确定性事件——前者随模型智商通胀，后者不会。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0789920" y="6382512"/>
            <a:ext cx="8503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766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能力全景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四层能力地图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042416"/>
          </a:xfrm>
          <a:prstGeom prst="roundRect">
            <a:avLst>
              <a:gd name="adj" fmla="val 4386"/>
            </a:avLst>
          </a:prstGeom>
          <a:solidFill>
            <a:srgbClr val="0B3D2E"/>
          </a:solidFill>
        </p:spPr>
      </p:sp>
      <p:sp>
        <p:nvSpPr>
          <p:cNvPr id="5" name="Text 3"/>
          <p:cNvSpPr/>
          <p:nvPr/>
        </p:nvSpPr>
        <p:spPr>
          <a:xfrm>
            <a:off x="822960" y="1856232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691640" y="1764792"/>
            <a:ext cx="51206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护城河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91640" y="2185416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E3D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外部状态——模型能力不可替代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40880" y="1737360"/>
            <a:ext cx="438912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250" dirty="0">
                <a:solidFill>
                  <a:srgbClr val="E8F2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 agent 并发控制 · 实测验收 + 防伪造 · 持久账本 + 断点恢复 · 跨仓变更管理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11091672" cy="1042416"/>
          </a:xfrm>
          <a:prstGeom prst="roundRect">
            <a:avLst>
              <a:gd name="adj" fmla="val 4386"/>
            </a:avLst>
          </a:prstGeom>
          <a:solidFill>
            <a:srgbClr val="0E5A45"/>
          </a:solidFill>
        </p:spPr>
      </p:sp>
      <p:sp>
        <p:nvSpPr>
          <p:cNvPr id="10" name="Text 8"/>
          <p:cNvSpPr/>
          <p:nvPr/>
        </p:nvSpPr>
        <p:spPr>
          <a:xfrm>
            <a:off x="822960" y="3044952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691640" y="2953512"/>
            <a:ext cx="51206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确定性对账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691640" y="3374136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E3D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机械核验——零模型轮次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40880" y="2926080"/>
            <a:ext cx="438912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250" dirty="0">
                <a:solidFill>
                  <a:srgbClr val="E8F2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范围对账 · API 契约矩阵 · 文档棘轮 · noAI 下沉 · IR 事实层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11091672" cy="1042416"/>
          </a:xfrm>
          <a:prstGeom prst="roundRect">
            <a:avLst>
              <a:gd name="adj" fmla="val 4386"/>
            </a:avLst>
          </a:prstGeom>
          <a:solidFill>
            <a:srgbClr val="2E7D5B"/>
          </a:solidFill>
        </p:spPr>
      </p:sp>
      <p:sp>
        <p:nvSpPr>
          <p:cNvPr id="15" name="Text 13"/>
          <p:cNvSpPr/>
          <p:nvPr/>
        </p:nvSpPr>
        <p:spPr>
          <a:xfrm>
            <a:off x="822960" y="4233672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1691640" y="4142232"/>
            <a:ext cx="51206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协作与流程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691640" y="4562856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B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从绿地 onboarding 到跨机派发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40880" y="4114800"/>
            <a:ext cx="438912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7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阶段状态机 · Wave 并行 · 分层审查 · 人类审批 · 跨机派发 · 棕地 scan · 知识飞轮 · 可配置工作流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166360"/>
            <a:ext cx="11091672" cy="1042416"/>
          </a:xfrm>
          <a:prstGeom prst="roundRect">
            <a:avLst>
              <a:gd name="adj" fmla="val 4386"/>
            </a:avLst>
          </a:prstGeom>
          <a:solidFill>
            <a:srgbClr val="E7F2EE"/>
          </a:solidFill>
        </p:spPr>
      </p:sp>
      <p:sp>
        <p:nvSpPr>
          <p:cNvPr id="20" name="Text 18"/>
          <p:cNvSpPr/>
          <p:nvPr/>
        </p:nvSpPr>
        <p:spPr>
          <a:xfrm>
            <a:off x="822960" y="5422392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5A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1691640" y="5330952"/>
            <a:ext cx="51206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自我运维与 UX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691640" y="5751576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6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工具量化自己的摩擦，喂改进循环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40880" y="5303520"/>
            <a:ext cx="438912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E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doctor 自诊 · 摩擦计数 · 测试分档 · dashboard · 机器接口 · eval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789920" y="6382512"/>
            <a:ext cx="8503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766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第一层 · 护城河 1/4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 agent 并发控制：三层机制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64208"/>
            <a:ext cx="357530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5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隔离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066544"/>
            <a:ext cx="357530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6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让冲突尽量不发生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487168"/>
            <a:ext cx="3575304" cy="274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每个变更独立目录 + 独立 DB 行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execute 在独立 git worktree 工作，收尾三方合并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变更文件必须在 design 清单与 allowed_paths 内，越界硬拦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git 提交显式 pathspec，禁目录级 add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215384" y="1737360"/>
            <a:ext cx="0" cy="3520440"/>
          </a:xfrm>
          <a:prstGeom prst="line">
            <a:avLst/>
          </a:prstGeom>
          <a:noFill/>
          <a:ln w="9525">
            <a:solidFill>
              <a:srgbClr val="DCE7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06824" y="1664208"/>
            <a:ext cx="357530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5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归属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306824" y="2066544"/>
            <a:ext cx="357530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6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分清这是谁改的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06824" y="2487168"/>
            <a:ext cx="3575304" cy="274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quick 启动时声明文件边界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收尾审计把窗口 diff 切成「归属 / 未声明」两桶，未声明落审计行可追溯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--done 前并发写预检：脏文件分「本变更 / 他者」并告警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973568" y="1737360"/>
            <a:ext cx="0" cy="3520440"/>
          </a:xfrm>
          <a:prstGeom prst="line">
            <a:avLst/>
          </a:prstGeom>
          <a:noFill/>
          <a:ln w="9525">
            <a:solidFill>
              <a:srgbClr val="DCE7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65008" y="1664208"/>
            <a:ext cx="357530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5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竞态硬门 + 分布式协调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065008" y="2066544"/>
            <a:ext cx="357530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6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撞上了怎么办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65008" y="2487168"/>
            <a:ext cx="3575304" cy="274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ql-ID 分配走文件锁：O_EXCL + 原子抢陈锁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盘上同 ID 条目 ≥2 时 fail-closed 硬拦；7 天僵尸预留不钉号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平台同步乐观锁 + 身份头 + 服务器权威钟，本人自回声不算真冲突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5596128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A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难抄点：每个机制都从事故里长出来（commit message 里的坑编号可查）；竞品要抄，得先把同类坑全踩一遍。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6382512"/>
            <a:ext cx="10104120" cy="329184"/>
          </a:xfrm>
          <a:prstGeom prst="roundRect">
            <a:avLst>
              <a:gd name="adj" fmla="val 13889"/>
            </a:avLst>
          </a:prstGeom>
          <a:solidFill>
            <a:srgbClr val="F3F7F5"/>
          </a:solidFill>
        </p:spPr>
      </p:sp>
      <p:sp>
        <p:nvSpPr>
          <p:cNvPr id="17" name="Text 15"/>
          <p:cNvSpPr/>
          <p:nvPr/>
        </p:nvSpPr>
        <p:spPr>
          <a:xfrm>
            <a:off x="676656" y="6382512"/>
            <a:ext cx="9875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66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src/run/shared.js · src/quicklog.js · src/run/concurrent-detect.js · src/sync.js · src/worktree.js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789920" y="6382512"/>
            <a:ext cx="8503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766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第一层 · 护城河 2/4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实测验收 + 防伪造链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41148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 说的不算，</a:t>
            </a:r>
            <a:endParaRPr lang="en-US" sz="2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CLI 亲自跑过的才算。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60120" y="3063240"/>
            <a:ext cx="3017520" cy="475488"/>
          </a:xfrm>
          <a:prstGeom prst="roundRect">
            <a:avLst>
              <a:gd name="adj" fmla="val 13462"/>
            </a:avLst>
          </a:prstGeom>
          <a:solidFill>
            <a:srgbClr val="F3F7F5"/>
          </a:solidFill>
        </p:spPr>
      </p:sp>
      <p:sp>
        <p:nvSpPr>
          <p:cNvPr id="6" name="Text 4"/>
          <p:cNvSpPr/>
          <p:nvPr/>
        </p:nvSpPr>
        <p:spPr>
          <a:xfrm>
            <a:off x="960120" y="3063240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自报 PASS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331720" y="3575304"/>
            <a:ext cx="274320" cy="219456"/>
          </a:xfrm>
          <a:prstGeom prst="downArrow">
            <a:avLst/>
          </a:prstGeom>
          <a:solidFill>
            <a:srgbClr val="2E7D5B"/>
          </a:solidFill>
        </p:spPr>
      </p:sp>
      <p:sp>
        <p:nvSpPr>
          <p:cNvPr id="8" name="Shape 6"/>
          <p:cNvSpPr/>
          <p:nvPr/>
        </p:nvSpPr>
        <p:spPr>
          <a:xfrm>
            <a:off x="960120" y="3840480"/>
            <a:ext cx="3017520" cy="475488"/>
          </a:xfrm>
          <a:prstGeom prst="roundRect">
            <a:avLst>
              <a:gd name="adj" fmla="val 13462"/>
            </a:avLst>
          </a:prstGeom>
          <a:solidFill>
            <a:srgbClr val="F3F7F5"/>
          </a:solidFill>
        </p:spPr>
      </p:sp>
      <p:sp>
        <p:nvSpPr>
          <p:cNvPr id="9" name="Text 7"/>
          <p:cNvSpPr/>
          <p:nvPr/>
        </p:nvSpPr>
        <p:spPr>
          <a:xfrm>
            <a:off x="960120" y="3840480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CLI execSync 亲测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331720" y="4352544"/>
            <a:ext cx="274320" cy="219456"/>
          </a:xfrm>
          <a:prstGeom prst="downArrow">
            <a:avLst/>
          </a:prstGeom>
          <a:solidFill>
            <a:srgbClr val="2E7D5B"/>
          </a:solidFill>
        </p:spPr>
      </p:sp>
      <p:sp>
        <p:nvSpPr>
          <p:cNvPr id="11" name="Shape 9"/>
          <p:cNvSpPr/>
          <p:nvPr/>
        </p:nvSpPr>
        <p:spPr>
          <a:xfrm>
            <a:off x="960120" y="4617720"/>
            <a:ext cx="3017520" cy="475488"/>
          </a:xfrm>
          <a:prstGeom prst="roundRect">
            <a:avLst>
              <a:gd name="adj" fmla="val 13462"/>
            </a:avLst>
          </a:prstGeom>
          <a:solidFill>
            <a:srgbClr val="F3F7F5"/>
          </a:solidFill>
        </p:spPr>
      </p:sp>
      <p:sp>
        <p:nvSpPr>
          <p:cNvPr id="12" name="Text 10"/>
          <p:cNvSpPr/>
          <p:nvPr/>
        </p:nvSpPr>
        <p:spPr>
          <a:xfrm>
            <a:off x="960120" y="4617720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自报 ≠ 实测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331720" y="5129784"/>
            <a:ext cx="274320" cy="219456"/>
          </a:xfrm>
          <a:prstGeom prst="downArrow">
            <a:avLst/>
          </a:prstGeom>
          <a:solidFill>
            <a:srgbClr val="2E7D5B"/>
          </a:solidFill>
        </p:spPr>
      </p:sp>
      <p:sp>
        <p:nvSpPr>
          <p:cNvPr id="14" name="Shape 12"/>
          <p:cNvSpPr/>
          <p:nvPr/>
        </p:nvSpPr>
        <p:spPr>
          <a:xfrm>
            <a:off x="960120" y="5394960"/>
            <a:ext cx="3017520" cy="475488"/>
          </a:xfrm>
          <a:prstGeom prst="roundRect">
            <a:avLst>
              <a:gd name="adj" fmla="val 13462"/>
            </a:avLst>
          </a:prstGeom>
          <a:solidFill>
            <a:srgbClr val="D97706"/>
          </a:solidFill>
        </p:spPr>
      </p:sp>
      <p:sp>
        <p:nvSpPr>
          <p:cNvPr id="15" name="Text 13"/>
          <p:cNvSpPr/>
          <p:nvPr/>
        </p:nvSpPr>
        <p:spPr>
          <a:xfrm>
            <a:off x="960120" y="5394960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阻断 + 回滚完成状态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29200" y="1664208"/>
            <a:ext cx="661111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5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CLI 亲测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0" y="2011680"/>
            <a:ext cx="6611112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verify / quick 收尾时用 execSync 亲自执行项目配置的 test / lint，与 agent 自报结果对账——自报 PASS 实测 fail 直接阻断，回滚完成状态。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029200" y="3063240"/>
            <a:ext cx="6611112" cy="0"/>
          </a:xfrm>
          <a:prstGeom prst="line">
            <a:avLst/>
          </a:prstGeom>
          <a:noFill/>
          <a:ln w="9525">
            <a:solidFill>
              <a:srgbClr val="DCE7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898648"/>
            <a:ext cx="661111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5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隔离快照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0" y="3246120"/>
            <a:ext cx="661111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quick 门禁跑在 HEAD + overlay 隔离快照里；并行会话留在工作区的脏文件，不污染本会话门禁结果。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029200" y="4069080"/>
            <a:ext cx="6611112" cy="0"/>
          </a:xfrm>
          <a:prstGeom prst="line">
            <a:avLst/>
          </a:prstGeom>
          <a:noFill/>
          <a:ln w="9525">
            <a:solidFill>
              <a:srgbClr val="DCE7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4087368"/>
            <a:ext cx="661111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5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防伪造链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0" y="4434840"/>
            <a:ext cx="6611112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review.json 的 docHash 由 CLI 重算 sha256 比对；task review 的 base..head git 提交证据与实际 diff 交叉对账；测试结果落实测时间线（status / exitCode / 失败清单）。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6382512"/>
            <a:ext cx="10104120" cy="329184"/>
          </a:xfrm>
          <a:prstGeom prst="roundRect">
            <a:avLst>
              <a:gd name="adj" fmla="val 13889"/>
            </a:avLst>
          </a:prstGeom>
          <a:solidFill>
            <a:srgbClr val="F3F7F5"/>
          </a:solidFill>
        </p:spPr>
      </p:sp>
      <p:sp>
        <p:nvSpPr>
          <p:cNvPr id="25" name="Text 23"/>
          <p:cNvSpPr/>
          <p:nvPr/>
        </p:nvSpPr>
        <p:spPr>
          <a:xfrm>
            <a:off x="676656" y="6382512"/>
            <a:ext cx="9875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66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src/verify-postcheck.js · src/run/quick-audit.js · src/run/gate-snapshot.js · src/task-review.js · src/stage-review.js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789920" y="6382512"/>
            <a:ext cx="8503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766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第一层 · 护城河 3/4 · 4/4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持久账本 + 断点恢复 · 跨仓变更管理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5449824" cy="4434840"/>
          </a:xfrm>
          <a:prstGeom prst="roundRect">
            <a:avLst>
              <a:gd name="adj" fmla="val 1443"/>
            </a:avLst>
          </a:prstGeom>
          <a:solidFill>
            <a:srgbClr val="F3F7F5"/>
          </a:solidFill>
          <a:effectLst>
            <a:outerShdw blurRad="88900" dist="25400" dir="5400000" algn="bl" rotWithShape="0">
              <a:srgbClr val="0E1B16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47088"/>
            <a:ext cx="490118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5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1.3 持久账本 + 断点恢复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901184" cy="3566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SQLite 单一进度权威源：stage / step 粒度，wait 等待态与人类审批答复全部落库</a:t>
            </a:r>
            <a:endParaRPr lang="en-US" sz="135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quicklog 追加式台账：需求 / 根因 / 方案 / 结果四字段 + 文件括注 + ql-ID 检索</a:t>
            </a:r>
            <a:endParaRPr lang="en-US" sz="135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跨会话跨天续跑：5 小时 API 配额中断，恢复即从已勾选任务继续</a:t>
            </a:r>
            <a:endParaRPr lang="en-US" sz="135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对比 harness 自带记忆——无损、可移植、可审计 vs 有损压缩 + 单厂商锁定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90488" y="1627632"/>
            <a:ext cx="5449824" cy="4434840"/>
          </a:xfrm>
          <a:prstGeom prst="roundRect">
            <a:avLst>
              <a:gd name="adj" fmla="val 1443"/>
            </a:avLst>
          </a:prstGeom>
          <a:solidFill>
            <a:srgbClr val="F3F7F5"/>
          </a:solidFill>
          <a:effectLst>
            <a:outerShdw blurRad="88900" dist="25400" dir="5400000" algn="bl" rotWithShape="0">
              <a:srgbClr val="0E1B16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64808" y="1847088"/>
            <a:ext cx="490118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5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1.4 跨仓变更管理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64808" y="2331720"/>
            <a:ext cx="4901184" cy="3566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task 卡 repo: 字段——跨仓任务不直写对方仓的主工作副本</a:t>
            </a:r>
            <a:endParaRPr lang="en-US" sz="135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跨仓同构 worktree：base 锚跨仓 HEAD 快照；用户在途改动进 dirty baseline，不算交付 diff、apply 不覆盖</a:t>
            </a:r>
            <a:endParaRPr lang="en-US" sz="135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依赖按跨仓项目类型嗅探：实测过 maven 主仓 + nodejs 前端仓组合</a:t>
            </a:r>
            <a:endParaRPr lang="en-US" sz="135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b="1" dirty="0">
                <a:solidFill>
                  <a:srgbClr val="0E5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稀缺度：单仓多 agent 协调工具已少，跨仓隔离管理目前没有已知同类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6382512"/>
            <a:ext cx="10104120" cy="329184"/>
          </a:xfrm>
          <a:prstGeom prst="roundRect">
            <a:avLst>
              <a:gd name="adj" fmla="val 13889"/>
            </a:avLst>
          </a:prstGeom>
          <a:solidFill>
            <a:srgbClr val="F3F7F5"/>
          </a:solidFill>
        </p:spPr>
      </p:sp>
      <p:sp>
        <p:nvSpPr>
          <p:cNvPr id="11" name="Text 9"/>
          <p:cNvSpPr/>
          <p:nvPr/>
        </p:nvSpPr>
        <p:spPr>
          <a:xfrm>
            <a:off x="676656" y="6382512"/>
            <a:ext cx="9875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66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src/progress.js · src/db.js · src/quicklog.js · src/worktree-cross.js · src/run/multi-repo-context.js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89920" y="6382512"/>
            <a:ext cx="8503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766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确定性对账：机械核验，零模型轮次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82496"/>
            <a:ext cx="2286000" cy="475488"/>
          </a:xfrm>
          <a:prstGeom prst="roundRect">
            <a:avLst>
              <a:gd name="adj" fmla="val 11538"/>
            </a:avLst>
          </a:prstGeom>
          <a:solidFill>
            <a:srgbClr val="E7F2EE"/>
          </a:solidFill>
        </p:spPr>
      </p:sp>
      <p:sp>
        <p:nvSpPr>
          <p:cNvPr id="5" name="Text 3"/>
          <p:cNvSpPr/>
          <p:nvPr/>
        </p:nvSpPr>
        <p:spPr>
          <a:xfrm>
            <a:off x="713232" y="1682496"/>
            <a:ext cx="20116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5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scope-audit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063240" y="1627632"/>
            <a:ext cx="8577072" cy="841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「计划改动 × 实际改动」机械对账：planned / unplanned / untouched 三态 + 行数三档；execute / verify / archive / quick 四处收尾注入——偷偷改计划之外的东西会被告警。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063240" y="2450592"/>
            <a:ext cx="8577072" cy="0"/>
          </a:xfrm>
          <a:prstGeom prst="line">
            <a:avLst/>
          </a:prstGeom>
          <a:noFill/>
          <a:ln w="9525">
            <a:solidFill>
              <a:srgbClr val="DCE7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578608"/>
            <a:ext cx="2286000" cy="475488"/>
          </a:xfrm>
          <a:prstGeom prst="roundRect">
            <a:avLst>
              <a:gd name="adj" fmla="val 11538"/>
            </a:avLst>
          </a:prstGeom>
          <a:solidFill>
            <a:srgbClr val="E7F2EE"/>
          </a:solidFill>
        </p:spPr>
      </p:sp>
      <p:sp>
        <p:nvSpPr>
          <p:cNvPr id="9" name="Text 7"/>
          <p:cNvSpPr/>
          <p:nvPr/>
        </p:nvSpPr>
        <p:spPr>
          <a:xfrm>
            <a:off x="713232" y="2578608"/>
            <a:ext cx="20116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5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contract-matrix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63240" y="2523744"/>
            <a:ext cx="8577072" cy="841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plan 阶段识别 task 间 provider / consumer；后端完工自动提取 endpoint 工件，前端开工注入上游契约；verify 阶段做前后端 API parity 对账——接口漂移从跑联调才发现变成机器对账。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063240" y="3346704"/>
            <a:ext cx="8577072" cy="0"/>
          </a:xfrm>
          <a:prstGeom prst="line">
            <a:avLst/>
          </a:prstGeom>
          <a:noFill/>
          <a:ln w="9525">
            <a:solidFill>
              <a:srgbClr val="DCE7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474720"/>
            <a:ext cx="2286000" cy="475488"/>
          </a:xfrm>
          <a:prstGeom prst="roundRect">
            <a:avLst>
              <a:gd name="adj" fmla="val 11538"/>
            </a:avLst>
          </a:prstGeom>
          <a:solidFill>
            <a:srgbClr val="E7F2EE"/>
          </a:solidFill>
        </p:spPr>
      </p:sp>
      <p:sp>
        <p:nvSpPr>
          <p:cNvPr id="13" name="Text 11"/>
          <p:cNvSpPr/>
          <p:nvPr/>
        </p:nvSpPr>
        <p:spPr>
          <a:xfrm>
            <a:off x="713232" y="3474720"/>
            <a:ext cx="20116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5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docs-check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63240" y="3419856"/>
            <a:ext cx="8577072" cy="841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校验文档里源码引用的真实性（文件存在 + 内容窗口断言）；HEAD 模式校验被推的树而非脏工作区；失败数棘轮只许降不许升，配套锚点自动重锚。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063240" y="4242816"/>
            <a:ext cx="8577072" cy="0"/>
          </a:xfrm>
          <a:prstGeom prst="line">
            <a:avLst/>
          </a:prstGeom>
          <a:noFill/>
          <a:ln w="9525">
            <a:solidFill>
              <a:srgbClr val="DCE7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370832"/>
            <a:ext cx="2286000" cy="475488"/>
          </a:xfrm>
          <a:prstGeom prst="roundRect">
            <a:avLst>
              <a:gd name="adj" fmla="val 11538"/>
            </a:avLst>
          </a:prstGeom>
          <a:solidFill>
            <a:srgbClr val="E7F2EE"/>
          </a:solidFill>
        </p:spPr>
      </p:sp>
      <p:sp>
        <p:nvSpPr>
          <p:cNvPr id="17" name="Text 15"/>
          <p:cNvSpPr/>
          <p:nvPr/>
        </p:nvSpPr>
        <p:spPr>
          <a:xfrm>
            <a:off x="713232" y="4370832"/>
            <a:ext cx="20116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5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noAI 下沉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63240" y="4315968"/>
            <a:ext cx="8577072" cy="841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机械轮次（手写机器要读的格式、复述机器已有的数据）下沉成 CLI 代码：诊断折叠、归档三重核对代算、四件套骨架预生成、上下文注入替代 cat；模型越强可下沉越多，成本结构与模型能力同向。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063240" y="5138928"/>
            <a:ext cx="8577072" cy="0"/>
          </a:xfrm>
          <a:prstGeom prst="line">
            <a:avLst/>
          </a:prstGeom>
          <a:noFill/>
          <a:ln w="9525">
            <a:solidFill>
              <a:srgbClr val="DCE7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5266944"/>
            <a:ext cx="2286000" cy="475488"/>
          </a:xfrm>
          <a:prstGeom prst="roundRect">
            <a:avLst>
              <a:gd name="adj" fmla="val 11538"/>
            </a:avLst>
          </a:prstGeom>
          <a:solidFill>
            <a:srgbClr val="E7F2EE"/>
          </a:solidFill>
        </p:spPr>
      </p:sp>
      <p:sp>
        <p:nvSpPr>
          <p:cNvPr id="21" name="Text 19"/>
          <p:cNvSpPr/>
          <p:nvPr/>
        </p:nvSpPr>
        <p:spPr>
          <a:xfrm>
            <a:off x="713232" y="5266944"/>
            <a:ext cx="20116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5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IR 事实层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063240" y="5212080"/>
            <a:ext cx="8577072" cy="841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verify 事实五段结构、证据分类核验、cannot_verify 硬门、target_files 三源对账（git diff / status / pathspec）；阶段契约声明式清单同一份源既渲染预览又供事后核验——persuasion 与 enforcement 单源。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6382512"/>
            <a:ext cx="10104120" cy="329184"/>
          </a:xfrm>
          <a:prstGeom prst="roundRect">
            <a:avLst>
              <a:gd name="adj" fmla="val 13889"/>
            </a:avLst>
          </a:prstGeom>
          <a:solidFill>
            <a:srgbClr val="F3F7F5"/>
          </a:solidFill>
        </p:spPr>
      </p:sp>
      <p:sp>
        <p:nvSpPr>
          <p:cNvPr id="24" name="Text 22"/>
          <p:cNvSpPr/>
          <p:nvPr/>
        </p:nvSpPr>
        <p:spPr>
          <a:xfrm>
            <a:off x="676656" y="6382512"/>
            <a:ext cx="9875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66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src/scope-audit.js · src/contract-matrix.js · src/endpoint-extractor.js · src/docs-check.js · src/stage-contract-spec.js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789920" y="6382512"/>
            <a:ext cx="8503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766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协作与流程特性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2011680" cy="475488"/>
          </a:xfrm>
          <a:prstGeom prst="chevron">
            <a:avLst/>
          </a:prstGeom>
          <a:solidFill>
            <a:srgbClr val="E3EFE8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C2B2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scan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322576" y="1627632"/>
            <a:ext cx="2011680" cy="475488"/>
          </a:xfrm>
          <a:prstGeom prst="chevron">
            <a:avLst/>
          </a:prstGeom>
          <a:solidFill>
            <a:srgbClr val="BFDCCF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C2B2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brainstorm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096512" y="1627632"/>
            <a:ext cx="2011680" cy="475488"/>
          </a:xfrm>
          <a:prstGeom prst="chevron">
            <a:avLst/>
          </a:prstGeom>
          <a:solidFill>
            <a:srgbClr val="8CC2AC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C2B2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plan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870448" y="1627632"/>
            <a:ext cx="2011680" cy="475488"/>
          </a:xfrm>
          <a:prstGeom prst="chevron">
            <a:avLst/>
          </a:prstGeom>
          <a:solidFill>
            <a:srgbClr val="4E9B7E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execute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644384" y="1627632"/>
            <a:ext cx="2011680" cy="475488"/>
          </a:xfrm>
          <a:prstGeom prst="chevron">
            <a:avLst/>
          </a:prstGeom>
          <a:solidFill>
            <a:srgbClr val="1F6B50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verify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418320" y="1627632"/>
            <a:ext cx="2011680" cy="475488"/>
          </a:xfrm>
          <a:prstGeom prst="chevron">
            <a:avLst/>
          </a:prstGeom>
          <a:solidFill>
            <a:srgbClr val="0B3D2E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archive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2267712"/>
            <a:ext cx="1109167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76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规范驱动 + 阶段状态机：每阶段入口契约、产物文件名、门禁校验强制流转，不能跳步。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2743200"/>
            <a:ext cx="54498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子代理并行 + Wave 拓扑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3054096"/>
            <a:ext cx="5449824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A5A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plan 按 depends_on 自动拓扑排序，同 Wave 任务并行执行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639312"/>
            <a:ext cx="54498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独立审查体系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3950208"/>
            <a:ext cx="5449824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A5A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Design Grill 设计审查、stage / task 分层 review、provenance 盖章（谁写的、何时写的）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535424"/>
            <a:ext cx="54498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人类审批持久化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4846320"/>
            <a:ext cx="5449824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A5A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wait 等待态与审批答复落库，关键决策点人类介入，答复跨会话不丢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5431536"/>
            <a:ext cx="54498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跨机派发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5742432"/>
            <a:ext cx="5449824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A5A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execute 子代理可派到 SillyHub MCP 远端 worker 池，可用性探测自动选后端，逐 worker 回退本机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90488" y="2743200"/>
            <a:ext cx="54498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棕地入库 scan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90488" y="3054096"/>
            <a:ext cx="5449824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A5A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为已有代码仓生成七份架构文档 + 模块映射的 onboarding 路径（多数同类工具是绿地假设）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90488" y="3639312"/>
            <a:ext cx="54498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知识飞轮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90488" y="3950208"/>
            <a:ext cx="5449824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A5A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模块级知识库按需注入；成功变更蒸馏为可复用模板；决策版本化 D-xxx@vN 带 supersedes 链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90488" y="4535424"/>
            <a:ext cx="54498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可配置工作流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190488" y="4846320"/>
            <a:ext cx="5449824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A5A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.sillyspec/workflows/*.yaml 自定义流程 + 产物 post_check + 按角色定位失败生成重试指引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6382512"/>
            <a:ext cx="10104120" cy="329184"/>
          </a:xfrm>
          <a:prstGeom prst="roundRect">
            <a:avLst>
              <a:gd name="adj" fmla="val 13889"/>
            </a:avLst>
          </a:prstGeom>
          <a:solidFill>
            <a:srgbClr val="F3F7F5"/>
          </a:solidFill>
        </p:spPr>
      </p:sp>
      <p:sp>
        <p:nvSpPr>
          <p:cNvPr id="26" name="Text 24"/>
          <p:cNvSpPr/>
          <p:nvPr/>
        </p:nvSpPr>
        <p:spPr>
          <a:xfrm>
            <a:off x="676656" y="6382512"/>
            <a:ext cx="9875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66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src/stages/ · src/dispatch/ · src/workflow.js · src/knowledge.js · src/modules.js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789920" y="6382512"/>
            <a:ext cx="8503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766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第四层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自我运维与 UX：工具量化自己的摩擦</a:t>
            </a:r>
            <a:endParaRPr lang="en-US" sz="30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548640" y="1627632"/>
            <a:ext cx="3575304" cy="2084832"/>
          </a:xfrm>
          <a:prstGeom prst="roundRect">
            <a:avLst>
              <a:gd name="adj" fmla="val 2632"/>
            </a:avLst>
          </a:prstGeom>
          <a:solidFill>
            <a:srgbClr val="F3F7F5"/>
          </a:solidFill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804672" y="1901952"/>
            <a:ext cx="118872" cy="118872"/>
          </a:xfrm>
          <a:prstGeom prst="rect">
            <a:avLst/>
          </a:prstGeom>
          <a:solidFill>
            <a:srgbClr val="0E5A45"/>
          </a:solidFill>
        </p:spPr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1042416" y="1792224"/>
            <a:ext cx="2926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doctor 自诊自愈</a:t>
            </a:r>
            <a:endParaRPr lang="en-US" sz="155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804672" y="2249424"/>
            <a:ext cx="3090672" cy="1316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A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 维诊断：指针健康、孤儿目录、DB 一致性、worktree 状态；幽灵 worktree、僵尸会话自动归档——死会话不永久阻塞活会话。</a:t>
            </a:r>
            <a:endParaRPr lang="en-US" sz="1250" dirty="0"/>
          </a:p>
        </p:txBody>
      </p:sp>
      <p:sp>
        <p:nvSpPr>
          <p:cNvPr id="8" name="Shape 6"/>
          <p:cNvSpPr/>
          <p:nvPr>
            <p:custDataLst>
              <p:tags r:id="rId5"/>
            </p:custDataLst>
          </p:nvPr>
        </p:nvSpPr>
        <p:spPr>
          <a:xfrm>
            <a:off x="4306824" y="1627632"/>
            <a:ext cx="3575304" cy="2084832"/>
          </a:xfrm>
          <a:prstGeom prst="roundRect">
            <a:avLst>
              <a:gd name="adj" fmla="val 2632"/>
            </a:avLst>
          </a:prstGeom>
          <a:solidFill>
            <a:srgbClr val="F3F7F5"/>
          </a:solidFill>
        </p:spPr>
      </p:sp>
      <p:sp>
        <p:nvSpPr>
          <p:cNvPr id="9" name="Shape 7"/>
          <p:cNvSpPr/>
          <p:nvPr>
            <p:custDataLst>
              <p:tags r:id="rId6"/>
            </p:custDataLst>
          </p:nvPr>
        </p:nvSpPr>
        <p:spPr>
          <a:xfrm>
            <a:off x="4562856" y="1901952"/>
            <a:ext cx="118872" cy="118872"/>
          </a:xfrm>
          <a:prstGeom prst="rect">
            <a:avLst/>
          </a:prstGeom>
          <a:solidFill>
            <a:srgbClr val="0E5A45"/>
          </a:solidFill>
        </p:spPr>
      </p:sp>
      <p:sp>
        <p:nvSpPr>
          <p:cNvPr id="10" name="Text 8"/>
          <p:cNvSpPr/>
          <p:nvPr>
            <p:custDataLst>
              <p:tags r:id="rId7"/>
            </p:custDataLst>
          </p:nvPr>
        </p:nvSpPr>
        <p:spPr>
          <a:xfrm>
            <a:off x="4800600" y="1792224"/>
            <a:ext cx="2926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摩擦计数 friction-tally</a:t>
            </a:r>
            <a:endParaRPr lang="en-US" sz="1550" dirty="0"/>
          </a:p>
        </p:txBody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4562856" y="2249424"/>
            <a:ext cx="3090672" cy="1316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A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门禁回滚、实测失败、审查打回三类摩擦事件结构化计数；隐私红线：不落提示词原文；收尾非零提示补 postmortem。</a:t>
            </a:r>
            <a:endParaRPr lang="en-US" sz="1250" dirty="0"/>
          </a:p>
        </p:txBody>
      </p:sp>
      <p:sp>
        <p:nvSpPr>
          <p:cNvPr id="12" name="Shape 10"/>
          <p:cNvSpPr/>
          <p:nvPr>
            <p:custDataLst>
              <p:tags r:id="rId9"/>
            </p:custDataLst>
          </p:nvPr>
        </p:nvSpPr>
        <p:spPr>
          <a:xfrm>
            <a:off x="8065008" y="1627632"/>
            <a:ext cx="3575304" cy="2084832"/>
          </a:xfrm>
          <a:prstGeom prst="roundRect">
            <a:avLst>
              <a:gd name="adj" fmla="val 2632"/>
            </a:avLst>
          </a:prstGeom>
          <a:solidFill>
            <a:srgbClr val="F3F7F5"/>
          </a:solidFill>
        </p:spPr>
      </p:sp>
      <p:sp>
        <p:nvSpPr>
          <p:cNvPr id="13" name="Shape 11"/>
          <p:cNvSpPr/>
          <p:nvPr>
            <p:custDataLst>
              <p:tags r:id="rId10"/>
            </p:custDataLst>
          </p:nvPr>
        </p:nvSpPr>
        <p:spPr>
          <a:xfrm>
            <a:off x="8321040" y="1901952"/>
            <a:ext cx="118872" cy="118872"/>
          </a:xfrm>
          <a:prstGeom prst="rect">
            <a:avLst/>
          </a:prstGeom>
          <a:solidFill>
            <a:srgbClr val="0E5A45"/>
          </a:solidFill>
        </p:spPr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8558784" y="1792224"/>
            <a:ext cx="2926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测试策略分档</a:t>
            </a:r>
            <a:endParaRPr lang="en-US" sz="1550" dirty="0"/>
          </a:p>
        </p:txBody>
      </p:sp>
      <p:sp>
        <p:nvSpPr>
          <p:cNvPr id="15" name="Text 13"/>
          <p:cNvSpPr/>
          <p:nvPr>
            <p:custDataLst>
              <p:tags r:id="rId12"/>
            </p:custDataLst>
          </p:nvPr>
        </p:nvSpPr>
        <p:spPr>
          <a:xfrm>
            <a:off x="8321040" y="2249424"/>
            <a:ext cx="3090672" cy="1316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A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full / module / skip / evidence-auto 四档 + known_failures 台账 + flaky 失败文件串行复跑治理。</a:t>
            </a:r>
            <a:endParaRPr lang="en-US" sz="1250" dirty="0"/>
          </a:p>
        </p:txBody>
      </p:sp>
      <p:sp>
        <p:nvSpPr>
          <p:cNvPr id="16" name="Shape 14"/>
          <p:cNvSpPr/>
          <p:nvPr>
            <p:custDataLst>
              <p:tags r:id="rId13"/>
            </p:custDataLst>
          </p:nvPr>
        </p:nvSpPr>
        <p:spPr>
          <a:xfrm>
            <a:off x="548640" y="3858768"/>
            <a:ext cx="3575304" cy="2084832"/>
          </a:xfrm>
          <a:prstGeom prst="roundRect">
            <a:avLst>
              <a:gd name="adj" fmla="val 2632"/>
            </a:avLst>
          </a:prstGeom>
          <a:solidFill>
            <a:srgbClr val="F3F7F5"/>
          </a:solidFill>
        </p:spPr>
      </p:sp>
      <p:sp>
        <p:nvSpPr>
          <p:cNvPr id="17" name="Shape 15"/>
          <p:cNvSpPr/>
          <p:nvPr>
            <p:custDataLst>
              <p:tags r:id="rId14"/>
            </p:custDataLst>
          </p:nvPr>
        </p:nvSpPr>
        <p:spPr>
          <a:xfrm>
            <a:off x="804672" y="4133088"/>
            <a:ext cx="118872" cy="118872"/>
          </a:xfrm>
          <a:prstGeom prst="rect">
            <a:avLst/>
          </a:prstGeom>
          <a:solidFill>
            <a:srgbClr val="0E5A45"/>
          </a:solidFill>
        </p:spPr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1042416" y="4023360"/>
            <a:ext cx="2926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dashboard</a:t>
            </a:r>
            <a:endParaRPr lang="en-US" sz="1550" dirty="0"/>
          </a:p>
        </p:txBody>
      </p:sp>
      <p:sp>
        <p:nvSpPr>
          <p:cNvPr id="19" name="Text 17"/>
          <p:cNvSpPr/>
          <p:nvPr>
            <p:custDataLst>
              <p:tags r:id="rId16"/>
            </p:custDataLst>
          </p:nvPr>
        </p:nvSpPr>
        <p:spPr>
          <a:xfrm>
            <a:off x="804672" y="4480560"/>
            <a:ext cx="3090672" cy="1316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A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本地 Web 进度面板（独立子包），进度可视化。</a:t>
            </a:r>
            <a:endParaRPr lang="en-US" sz="1250" dirty="0"/>
          </a:p>
        </p:txBody>
      </p:sp>
      <p:sp>
        <p:nvSpPr>
          <p:cNvPr id="20" name="Shape 18"/>
          <p:cNvSpPr/>
          <p:nvPr>
            <p:custDataLst>
              <p:tags r:id="rId17"/>
            </p:custDataLst>
          </p:nvPr>
        </p:nvSpPr>
        <p:spPr>
          <a:xfrm>
            <a:off x="4306824" y="3858768"/>
            <a:ext cx="3575304" cy="2084832"/>
          </a:xfrm>
          <a:prstGeom prst="roundRect">
            <a:avLst>
              <a:gd name="adj" fmla="val 2632"/>
            </a:avLst>
          </a:prstGeom>
          <a:solidFill>
            <a:srgbClr val="F3F7F5"/>
          </a:solidFill>
        </p:spPr>
      </p:sp>
      <p:sp>
        <p:nvSpPr>
          <p:cNvPr id="21" name="Shape 19"/>
          <p:cNvSpPr/>
          <p:nvPr>
            <p:custDataLst>
              <p:tags r:id="rId18"/>
            </p:custDataLst>
          </p:nvPr>
        </p:nvSpPr>
        <p:spPr>
          <a:xfrm>
            <a:off x="4562856" y="4133088"/>
            <a:ext cx="118872" cy="118872"/>
          </a:xfrm>
          <a:prstGeom prst="rect">
            <a:avLst/>
          </a:prstGeom>
          <a:solidFill>
            <a:srgbClr val="0E5A45"/>
          </a:solidFill>
        </p:spPr>
      </p:sp>
      <p:sp>
        <p:nvSpPr>
          <p:cNvPr id="22" name="Text 20"/>
          <p:cNvSpPr/>
          <p:nvPr>
            <p:custDataLst>
              <p:tags r:id="rId19"/>
            </p:custDataLst>
          </p:nvPr>
        </p:nvSpPr>
        <p:spPr>
          <a:xfrm>
            <a:off x="4800600" y="4023360"/>
            <a:ext cx="2926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机器接口</a:t>
            </a:r>
            <a:endParaRPr lang="en-US" sz="1550" dirty="0"/>
          </a:p>
        </p:txBody>
      </p:sp>
      <p:sp>
        <p:nvSpPr>
          <p:cNvPr id="23" name="Text 21"/>
          <p:cNvSpPr/>
          <p:nvPr>
            <p:custDataLst>
              <p:tags r:id="rId20"/>
            </p:custDataLst>
          </p:nvPr>
        </p:nvSpPr>
        <p:spPr>
          <a:xfrm>
            <a:off x="4562856" y="4480560"/>
            <a:ext cx="3090672" cy="1316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A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gate / derive / progress 输出机器可读 JSON 信封 + MCP server，供 harness 与外部工具程序化消费。</a:t>
            </a:r>
            <a:endParaRPr lang="en-US" sz="1250" dirty="0"/>
          </a:p>
        </p:txBody>
      </p:sp>
      <p:sp>
        <p:nvSpPr>
          <p:cNvPr id="24" name="Shape 22"/>
          <p:cNvSpPr/>
          <p:nvPr>
            <p:custDataLst>
              <p:tags r:id="rId21"/>
            </p:custDataLst>
          </p:nvPr>
        </p:nvSpPr>
        <p:spPr>
          <a:xfrm>
            <a:off x="8065008" y="3858768"/>
            <a:ext cx="3575304" cy="2084832"/>
          </a:xfrm>
          <a:prstGeom prst="roundRect">
            <a:avLst>
              <a:gd name="adj" fmla="val 2632"/>
            </a:avLst>
          </a:prstGeom>
          <a:solidFill>
            <a:srgbClr val="F3F7F5"/>
          </a:solidFill>
        </p:spPr>
      </p:sp>
      <p:sp>
        <p:nvSpPr>
          <p:cNvPr id="25" name="Shape 23"/>
          <p:cNvSpPr/>
          <p:nvPr>
            <p:custDataLst>
              <p:tags r:id="rId22"/>
            </p:custDataLst>
          </p:nvPr>
        </p:nvSpPr>
        <p:spPr>
          <a:xfrm>
            <a:off x="8321040" y="4133088"/>
            <a:ext cx="118872" cy="118872"/>
          </a:xfrm>
          <a:prstGeom prst="rect">
            <a:avLst/>
          </a:prstGeom>
          <a:solidFill>
            <a:srgbClr val="0E5A45"/>
          </a:solidFill>
        </p:spPr>
      </p:sp>
      <p:sp>
        <p:nvSpPr>
          <p:cNvPr id="26" name="Text 24"/>
          <p:cNvSpPr/>
          <p:nvPr>
            <p:custDataLst>
              <p:tags r:id="rId23"/>
            </p:custDataLst>
          </p:nvPr>
        </p:nvSpPr>
        <p:spPr>
          <a:xfrm>
            <a:off x="8558784" y="4023360"/>
            <a:ext cx="2926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eval 框架</a:t>
            </a:r>
            <a:endParaRPr lang="en-US" sz="1550" dirty="0"/>
          </a:p>
        </p:txBody>
      </p:sp>
      <p:sp>
        <p:nvSpPr>
          <p:cNvPr id="27" name="Text 25"/>
          <p:cNvSpPr/>
          <p:nvPr>
            <p:custDataLst>
              <p:tags r:id="rId24"/>
            </p:custDataLst>
          </p:nvPr>
        </p:nvSpPr>
        <p:spPr>
          <a:xfrm>
            <a:off x="8321040" y="4480560"/>
            <a:ext cx="3090672" cy="1316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A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任务级对照评测（dry / pilot 两模式），支撑「上量 vs 不上量」的能力 claims 用数据说话。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6382512"/>
            <a:ext cx="10104120" cy="329184"/>
          </a:xfrm>
          <a:prstGeom prst="roundRect">
            <a:avLst>
              <a:gd name="adj" fmla="val 13889"/>
            </a:avLst>
          </a:prstGeom>
          <a:solidFill>
            <a:srgbClr val="F3F7F5"/>
          </a:solidFill>
        </p:spPr>
      </p:sp>
      <p:sp>
        <p:nvSpPr>
          <p:cNvPr id="29" name="Text 27"/>
          <p:cNvSpPr/>
          <p:nvPr/>
        </p:nvSpPr>
        <p:spPr>
          <a:xfrm>
            <a:off x="676656" y="6382512"/>
            <a:ext cx="9875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66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src/doctor-diagnostics.js · src/friction-tally.js · packages/dashboard/ · src/machine-interface.js · eval/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789920" y="6382512"/>
            <a:ext cx="8503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766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数据面板 · as of 2026-09-14 · v3.28.8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数字全景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26517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E5A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67,975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231136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676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行源码 · 125 个 JS 模块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73552" y="1591056"/>
            <a:ext cx="0" cy="1097280"/>
          </a:xfrm>
          <a:prstGeom prst="line">
            <a:avLst/>
          </a:prstGeom>
          <a:noFill/>
          <a:ln w="9525">
            <a:solidFill>
              <a:srgbClr val="DCE7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1536192"/>
            <a:ext cx="26517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E5A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3,357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429000" y="2231136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676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处断言 · 826 用例 · 463 文件全量通过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53912" y="1591056"/>
            <a:ext cx="0" cy="1097280"/>
          </a:xfrm>
          <a:prstGeom prst="line">
            <a:avLst/>
          </a:prstGeom>
          <a:noFill/>
          <a:ln w="9525">
            <a:solidFill>
              <a:srgbClr val="DCE7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536192"/>
            <a:ext cx="26517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E5A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78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309360" y="2231136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676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个归档变更 · 含完整设计与验收记录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034272" y="1591056"/>
            <a:ext cx="0" cy="1097280"/>
          </a:xfrm>
          <a:prstGeom prst="line">
            <a:avLst/>
          </a:prstGeom>
          <a:noFill/>
          <a:ln w="9525">
            <a:solidFill>
              <a:srgbClr val="DCE7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89720" y="1536192"/>
            <a:ext cx="26517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E5A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189720" y="2231136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676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种 harness 适配 · 状态随仓库走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3127248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代码构成（行数占比 · 约值）</a:t>
            </a:r>
            <a:endParaRPr lang="en-US" sz="135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548640" y="3474720"/>
          <a:ext cx="667512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548640" y="6053328"/>
            <a:ext cx="68580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676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Source: 全仓 125 个源码模块逐块盘点，2026-09-14；占比为约值，多 agent 协调取 10–18% 区间中值示意。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589520" y="3127248"/>
            <a:ext cx="4050792" cy="2788920"/>
          </a:xfrm>
          <a:prstGeom prst="roundRect">
            <a:avLst>
              <a:gd name="adj" fmla="val 2295"/>
            </a:avLst>
          </a:prstGeom>
          <a:solidFill>
            <a:srgbClr val="F3F7F5"/>
          </a:solidFill>
        </p:spPr>
      </p:sp>
      <p:sp>
        <p:nvSpPr>
          <p:cNvPr id="19" name="Text 16"/>
          <p:cNvSpPr/>
          <p:nvPr/>
        </p:nvSpPr>
        <p:spPr>
          <a:xfrm>
            <a:off x="7845552" y="3310128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5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运行面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845425" y="3712210"/>
            <a:ext cx="3806825" cy="2103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4A5A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Node.js ≥ 22.13：内置 node:sqlite，零编译安装</a:t>
            </a:r>
            <a:endParaRPr lang="en-US" sz="12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4A5A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个运行时依赖 · 纯客户端，无自带服务器进程</a:t>
            </a:r>
            <a:endParaRPr lang="en-US" sz="12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4A5A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Linux / macOS / Windows</a:t>
            </a:r>
            <a:endParaRPr lang="en-US" sz="12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4A5A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harness：Claude Code/Cursor/Codex /OpenCode/OpenClaw/Gemini/ZCode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0789920" y="6382512"/>
            <a:ext cx="8503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766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常见质疑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标准回应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0B3D2E"/>
          </a:solidFill>
        </p:spPr>
      </p:sp>
      <p:sp>
        <p:nvSpPr>
          <p:cNvPr id="5" name="Text 3"/>
          <p:cNvSpPr/>
          <p:nvPr/>
        </p:nvSpPr>
        <p:spPr>
          <a:xfrm>
            <a:off x="548640" y="1645920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07008" y="1627632"/>
            <a:ext cx="10424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模型够强了，流程纪律类工具会被「卸载潮」淘汰？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07008" y="1993392"/>
            <a:ext cx="104241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5A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对文本纪律成立，对确定性门禁不成立——模型输出是概率分布，门禁是确定性事件；概率右移不消灭「自报 PASS 实测 fail」，更消灭不了多进程竞态。模型变强只加速 prompt 层债单偿还，方向一致。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11091672" cy="0"/>
          </a:xfrm>
          <a:prstGeom prst="line">
            <a:avLst/>
          </a:prstGeom>
          <a:noFill/>
          <a:ln w="9525">
            <a:solidFill>
              <a:srgbClr val="DCE7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798064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0B3D2E"/>
          </a:solidFill>
        </p:spPr>
      </p:sp>
      <p:sp>
        <p:nvSpPr>
          <p:cNvPr id="10" name="Text 8"/>
          <p:cNvSpPr/>
          <p:nvPr/>
        </p:nvSpPr>
        <p:spPr>
          <a:xfrm>
            <a:off x="548640" y="2798064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07008" y="2779776"/>
            <a:ext cx="10424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harness 自带记忆、会派子 agent，这些功能会被吸收？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07008" y="3145536"/>
            <a:ext cx="104241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5A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厂商记忆是有损压缩 + 单厂商锁定，SQLite 账本无损可移植；子 agent 派发恰是需求放大器——派发越多，多写者协调越刚需。真正的失效条件是 harness 原生提供跨会话互斥 + 进度状态机 + 实测门禁，目前无一家做到，且厂商缺乏跨工具兼容动机。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877056"/>
            <a:ext cx="11091672" cy="0"/>
          </a:xfrm>
          <a:prstGeom prst="line">
            <a:avLst/>
          </a:prstGeom>
          <a:noFill/>
          <a:ln w="9525">
            <a:solidFill>
              <a:srgbClr val="DCE7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950208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0B3D2E"/>
          </a:solidFill>
        </p:spPr>
      </p:sp>
      <p:sp>
        <p:nvSpPr>
          <p:cNvPr id="15" name="Text 13"/>
          <p:cNvSpPr/>
          <p:nvPr/>
        </p:nvSpPr>
        <p:spPr>
          <a:xfrm>
            <a:off x="548640" y="3950208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07008" y="3931920"/>
            <a:ext cx="10424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重流程烧 token，几百万 token 写完文档还没干活？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07008" y="4297680"/>
            <a:ext cx="104241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5A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批评对象是不分档的一刀切流程。SillySpec 流程重量随任务规模缩放：小改动走 quick（≤3 文件档）、代码先行有倒推收尾模式、noAI 下沉让机械轮次零 token；轮次经济学是持续在做的工程。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029200"/>
            <a:ext cx="11091672" cy="0"/>
          </a:xfrm>
          <a:prstGeom prst="line">
            <a:avLst/>
          </a:prstGeom>
          <a:noFill/>
          <a:ln w="9525">
            <a:solidFill>
              <a:srgbClr val="DCE7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5102352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0B3D2E"/>
          </a:solidFill>
        </p:spPr>
      </p:sp>
      <p:sp>
        <p:nvSpPr>
          <p:cNvPr id="20" name="Text 18"/>
          <p:cNvSpPr/>
          <p:nvPr/>
        </p:nvSpPr>
        <p:spPr>
          <a:xfrm>
            <a:off x="548640" y="5102352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07008" y="5084064"/>
            <a:ext cx="10424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Superpowers 都被批量卸载了。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07008" y="5449824"/>
            <a:ext cx="104241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5A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被卸载的是文本纪律那半。变更账本、竞态硬门、实测验收、跨仓隔离没有等价替代品——这半不在卸载潮的射程里。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789920" y="6382512"/>
            <a:ext cx="8503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766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推广时主动说清，不夸大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诚实边界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5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TDD 措辞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63240" y="1645920"/>
            <a:ext cx="857707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实际是「测试先行约定（task 卡 verify 字段）+ 末端 CLI 实测门禁」，不是逐步顺序硬证；介绍时用前者，不用「TDD 强制」。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14016"/>
            <a:ext cx="11091672" cy="0"/>
          </a:xfrm>
          <a:prstGeom prst="line">
            <a:avLst/>
          </a:prstGeom>
          <a:noFill/>
          <a:ln w="9525">
            <a:solidFill>
              <a:srgbClr val="DCE7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487168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5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语义判断的归属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63240" y="2505456"/>
            <a:ext cx="857707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权衡、理由、风险、需求澄清永远留给 agent 与人类——CLI 不替人想清楚要做什么；这句话对任何工具都成立，包括本工具。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273552"/>
            <a:ext cx="11091672" cy="0"/>
          </a:xfrm>
          <a:prstGeom prst="line">
            <a:avLst/>
          </a:prstGeom>
          <a:noFill/>
          <a:ln w="9525">
            <a:solidFill>
              <a:srgbClr val="DCE7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346704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5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quick 的定位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63240" y="3364992"/>
            <a:ext cx="857707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轻量逃生通道，不校验 design 一致性（边界声明里明确写了）；跨模块联动该走完整流程。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133088"/>
            <a:ext cx="11091672" cy="0"/>
          </a:xfrm>
          <a:prstGeom prst="line">
            <a:avLst/>
          </a:prstGeom>
          <a:noFill/>
          <a:ln w="9525">
            <a:solidFill>
              <a:srgbClr val="DCE7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206240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5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单人单会话场景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63240" y="4224528"/>
            <a:ext cx="857707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护城河层价值打折——核心场景是多 agent / 多会话 / 多机并行；单用户轻量使用时，主要价值收敛为实测门禁与断点恢复。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992624"/>
            <a:ext cx="11091672" cy="0"/>
          </a:xfrm>
          <a:prstGeom prst="line">
            <a:avLst/>
          </a:prstGeom>
          <a:noFill/>
          <a:ln w="9525">
            <a:solidFill>
              <a:srgbClr val="DCE7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5065776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5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平台功能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063240" y="5084064"/>
            <a:ext cx="857707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SillyHub 对接（文档同步 / 团队审批 / 跨机派发）是可选增强；本地独立使用功能完整。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6089904"/>
            <a:ext cx="12188952" cy="475488"/>
          </a:xfrm>
          <a:prstGeom prst="rect">
            <a:avLst/>
          </a:prstGeom>
          <a:solidFill>
            <a:srgbClr val="F3F7F5"/>
          </a:solidFill>
        </p:spPr>
      </p:sp>
      <p:sp>
        <p:nvSpPr>
          <p:cNvPr id="19" name="Text 17"/>
          <p:cNvSpPr/>
          <p:nvPr/>
        </p:nvSpPr>
        <p:spPr>
          <a:xfrm>
            <a:off x="822960" y="6089904"/>
            <a:ext cx="97840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2B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叙事纪律：说「确定性 / 实测 / fail-closed」，不吹「智能 / 自动理解」；数字带 as-of 日期；不贬竞品，只讲纪律存在形式的差异。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789920" y="6382512"/>
            <a:ext cx="8503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766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文本纪律是概率约束，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2542032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977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SillySpec 是确定性事件。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35204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DB3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 agent 仓库的变更账本 + 确定性验收层 · 模型无关 · harness 无关 · 仓库内自包含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228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70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›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04672" y="423367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sillyspec init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5212080"/>
            <a:ext cx="26517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67,975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5669280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3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行源码 · 125 个 JS 模块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73552" y="5257800"/>
            <a:ext cx="0" cy="658368"/>
          </a:xfrm>
          <a:prstGeom prst="line">
            <a:avLst/>
          </a:prstGeom>
          <a:noFill/>
          <a:ln w="12700">
            <a:solidFill>
              <a:srgbClr val="2640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5212080"/>
            <a:ext cx="26517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3,357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29000" y="5669280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3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处断言 · 826 用例全量通过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53912" y="5257800"/>
            <a:ext cx="0" cy="658368"/>
          </a:xfrm>
          <a:prstGeom prst="line">
            <a:avLst/>
          </a:prstGeom>
          <a:noFill/>
          <a:ln w="12700">
            <a:solidFill>
              <a:srgbClr val="2640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5212080"/>
            <a:ext cx="26517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78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309360" y="5669280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3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个归档变更 · 含设计与验收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34272" y="5257800"/>
            <a:ext cx="0" cy="658368"/>
          </a:xfrm>
          <a:prstGeom prst="line">
            <a:avLst/>
          </a:prstGeom>
          <a:noFill/>
          <a:ln w="12700">
            <a:solidFill>
              <a:srgbClr val="2640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89720" y="5212080"/>
            <a:ext cx="26517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89720" y="5669280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3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种 harness 适配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3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docs/sillyspec/capability-highlights-2026-09-14.md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40880" y="6455664"/>
            <a:ext cx="45994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DB3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as of 2026-09-14 · v3.28.8</a:t>
            </a:r>
            <a:endParaRPr lang="en-US" sz="12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39.84000000000003,&quot;left&quot;:43.2,&quot;top&quot;:128.16,&quot;width&quot;:873.3599999999999}"/>
</p:tagLst>
</file>

<file path=ppt/tags/tag2.xml><?xml version="1.0" encoding="utf-8"?>
<p:tagLst xmlns:p="http://schemas.openxmlformats.org/presentationml/2006/main">
  <p:tag name="KSO_WM_DIAGRAM_VIRTUALLY_FRAME" val="{&quot;height&quot;:339.84000000000003,&quot;left&quot;:43.2,&quot;top&quot;:128.16,&quot;width&quot;:873.3599999999999}"/>
</p:tagLst>
</file>

<file path=ppt/tags/tag3.xml><?xml version="1.0" encoding="utf-8"?>
<p:tagLst xmlns:p="http://schemas.openxmlformats.org/presentationml/2006/main">
  <p:tag name="KSO_WM_DIAGRAM_VIRTUALLY_FRAME" val="{&quot;height&quot;:339.84000000000003,&quot;left&quot;:43.2,&quot;top&quot;:128.16,&quot;width&quot;:873.3599999999999}"/>
</p:tagLst>
</file>

<file path=ppt/tags/tag4.xml><?xml version="1.0" encoding="utf-8"?>
<p:tagLst xmlns:p="http://schemas.openxmlformats.org/presentationml/2006/main">
  <p:tag name="KSO_WM_DIAGRAM_VIRTUALLY_FRAME" val="{&quot;height&quot;:339.84000000000003,&quot;left&quot;:43.2,&quot;top&quot;:128.16,&quot;width&quot;:873.3599999999999}"/>
</p:tagLst>
</file>

<file path=ppt/tags/tag5.xml><?xml version="1.0" encoding="utf-8"?>
<p:tagLst xmlns:p="http://schemas.openxmlformats.org/presentationml/2006/main">
  <p:tag name="KSO_WM_DIAGRAM_VIRTUALLY_FRAME" val="{&quot;height&quot;:339.84000000000003,&quot;left&quot;:43.2,&quot;top&quot;:128.16,&quot;width&quot;:873.3599999999999}"/>
</p:tagLst>
</file>

<file path=ppt/tags/tag6.xml><?xml version="1.0" encoding="utf-8"?>
<p:tagLst xmlns:p="http://schemas.openxmlformats.org/presentationml/2006/main">
  <p:tag name="KSO_WM_DIAGRAM_VIRTUALLY_FRAME" val="{&quot;height&quot;:339.84000000000003,&quot;left&quot;:43.2,&quot;top&quot;:128.16,&quot;width&quot;:873.3599999999999}"/>
</p:tagLst>
</file>

<file path=ppt/tags/tag7.xml><?xml version="1.0" encoding="utf-8"?>
<p:tagLst xmlns:p="http://schemas.openxmlformats.org/presentationml/2006/main">
  <p:tag name="KSO_WM_DIAGRAM_VIRTUALLY_FRAME" val="{&quot;height&quot;:339.84000000000003,&quot;left&quot;:43.2,&quot;top&quot;:128.16,&quot;width&quot;:873.3599999999999}"/>
</p:tagLst>
</file>

<file path=ppt/tags/tag8.xml><?xml version="1.0" encoding="utf-8"?>
<p:tagLst xmlns:p="http://schemas.openxmlformats.org/presentationml/2006/main">
  <p:tag name="KSO_WM_DIAGRAM_VIRTUALLY_FRAME" val="{&quot;height&quot;:339.84000000000003,&quot;left&quot;:43.2,&quot;top&quot;:128.16,&quot;width&quot;:873.3599999999999}"/>
</p:tagLst>
</file>

<file path=ppt/tags/tag9.xml><?xml version="1.0" encoding="utf-8"?>
<p:tagLst xmlns:p="http://schemas.openxmlformats.org/presentationml/2006/main">
  <p:tag name="KSO_WM_DIAGRAM_VIRTUALLY_FRAME" val="{&quot;height&quot;:339.84000000000003,&quot;left&quot;:43.2,&quot;top&quot;:128.16,&quot;width&quot;:873.3599999999999}"/>
</p:tagLst>
</file>

<file path=ppt/tags/tag10.xml><?xml version="1.0" encoding="utf-8"?>
<p:tagLst xmlns:p="http://schemas.openxmlformats.org/presentationml/2006/main">
  <p:tag name="KSO_WM_DIAGRAM_VIRTUALLY_FRAME" val="{&quot;height&quot;:339.84000000000003,&quot;left&quot;:43.2,&quot;top&quot;:128.16,&quot;width&quot;:873.3599999999999}"/>
</p:tagLst>
</file>

<file path=ppt/tags/tag11.xml><?xml version="1.0" encoding="utf-8"?>
<p:tagLst xmlns:p="http://schemas.openxmlformats.org/presentationml/2006/main">
  <p:tag name="KSO_WM_DIAGRAM_VIRTUALLY_FRAME" val="{&quot;height&quot;:339.84000000000003,&quot;left&quot;:43.2,&quot;top&quot;:128.16,&quot;width&quot;:873.3599999999999}"/>
</p:tagLst>
</file>

<file path=ppt/tags/tag12.xml><?xml version="1.0" encoding="utf-8"?>
<p:tagLst xmlns:p="http://schemas.openxmlformats.org/presentationml/2006/main">
  <p:tag name="KSO_WM_DIAGRAM_VIRTUALLY_FRAME" val="{&quot;height&quot;:339.84000000000003,&quot;left&quot;:43.2,&quot;top&quot;:128.16,&quot;width&quot;:873.3599999999999}"/>
</p:tagLst>
</file>

<file path=ppt/tags/tag13.xml><?xml version="1.0" encoding="utf-8"?>
<p:tagLst xmlns:p="http://schemas.openxmlformats.org/presentationml/2006/main">
  <p:tag name="KSO_WM_DIAGRAM_VIRTUALLY_FRAME" val="{&quot;height&quot;:339.84000000000003,&quot;left&quot;:43.2,&quot;top&quot;:128.16,&quot;width&quot;:873.3599999999999}"/>
</p:tagLst>
</file>

<file path=ppt/tags/tag14.xml><?xml version="1.0" encoding="utf-8"?>
<p:tagLst xmlns:p="http://schemas.openxmlformats.org/presentationml/2006/main">
  <p:tag name="KSO_WM_DIAGRAM_VIRTUALLY_FRAME" val="{&quot;height&quot;:339.84000000000003,&quot;left&quot;:43.2,&quot;top&quot;:128.16,&quot;width&quot;:873.3599999999999}"/>
</p:tagLst>
</file>

<file path=ppt/tags/tag15.xml><?xml version="1.0" encoding="utf-8"?>
<p:tagLst xmlns:p="http://schemas.openxmlformats.org/presentationml/2006/main">
  <p:tag name="KSO_WM_DIAGRAM_VIRTUALLY_FRAME" val="{&quot;height&quot;:339.84000000000003,&quot;left&quot;:43.2,&quot;top&quot;:128.16,&quot;width&quot;:873.3599999999999}"/>
</p:tagLst>
</file>

<file path=ppt/tags/tag16.xml><?xml version="1.0" encoding="utf-8"?>
<p:tagLst xmlns:p="http://schemas.openxmlformats.org/presentationml/2006/main">
  <p:tag name="KSO_WM_DIAGRAM_VIRTUALLY_FRAME" val="{&quot;height&quot;:339.84000000000003,&quot;left&quot;:43.2,&quot;top&quot;:128.16,&quot;width&quot;:873.3599999999999}"/>
</p:tagLst>
</file>

<file path=ppt/tags/tag17.xml><?xml version="1.0" encoding="utf-8"?>
<p:tagLst xmlns:p="http://schemas.openxmlformats.org/presentationml/2006/main">
  <p:tag name="KSO_WM_DIAGRAM_VIRTUALLY_FRAME" val="{&quot;height&quot;:339.84000000000003,&quot;left&quot;:43.2,&quot;top&quot;:128.16,&quot;width&quot;:873.3599999999999}"/>
</p:tagLst>
</file>

<file path=ppt/tags/tag18.xml><?xml version="1.0" encoding="utf-8"?>
<p:tagLst xmlns:p="http://schemas.openxmlformats.org/presentationml/2006/main">
  <p:tag name="KSO_WM_DIAGRAM_VIRTUALLY_FRAME" val="{&quot;height&quot;:339.84000000000003,&quot;left&quot;:43.2,&quot;top&quot;:128.16,&quot;width&quot;:873.3599999999999}"/>
</p:tagLst>
</file>

<file path=ppt/tags/tag19.xml><?xml version="1.0" encoding="utf-8"?>
<p:tagLst xmlns:p="http://schemas.openxmlformats.org/presentationml/2006/main">
  <p:tag name="KSO_WM_DIAGRAM_VIRTUALLY_FRAME" val="{&quot;height&quot;:339.84000000000003,&quot;left&quot;:43.2,&quot;top&quot;:128.16,&quot;width&quot;:873.3599999999999}"/>
</p:tagLst>
</file>

<file path=ppt/tags/tag20.xml><?xml version="1.0" encoding="utf-8"?>
<p:tagLst xmlns:p="http://schemas.openxmlformats.org/presentationml/2006/main">
  <p:tag name="KSO_WM_DIAGRAM_VIRTUALLY_FRAME" val="{&quot;height&quot;:339.84000000000003,&quot;left&quot;:43.2,&quot;top&quot;:128.16,&quot;width&quot;:873.3599999999999}"/>
</p:tagLst>
</file>

<file path=ppt/tags/tag21.xml><?xml version="1.0" encoding="utf-8"?>
<p:tagLst xmlns:p="http://schemas.openxmlformats.org/presentationml/2006/main">
  <p:tag name="KSO_WM_DIAGRAM_VIRTUALLY_FRAME" val="{&quot;height&quot;:339.84000000000003,&quot;left&quot;:43.2,&quot;top&quot;:128.16,&quot;width&quot;:873.3599999999999}"/>
</p:tagLst>
</file>

<file path=ppt/tags/tag22.xml><?xml version="1.0" encoding="utf-8"?>
<p:tagLst xmlns:p="http://schemas.openxmlformats.org/presentationml/2006/main">
  <p:tag name="KSO_WM_DIAGRAM_VIRTUALLY_FRAME" val="{&quot;height&quot;:339.84000000000003,&quot;left&quot;:43.2,&quot;top&quot;:128.16,&quot;width&quot;:873.3599999999999}"/>
</p:tagLst>
</file>

<file path=ppt/tags/tag23.xml><?xml version="1.0" encoding="utf-8"?>
<p:tagLst xmlns:p="http://schemas.openxmlformats.org/presentationml/2006/main">
  <p:tag name="KSO_WM_DIAGRAM_VIRTUALLY_FRAME" val="{&quot;height&quot;:339.84000000000003,&quot;left&quot;:43.2,&quot;top&quot;:128.16,&quot;width&quot;:873.3599999999999}"/>
</p:tagLst>
</file>

<file path=ppt/tags/tag24.xml><?xml version="1.0" encoding="utf-8"?>
<p:tagLst xmlns:p="http://schemas.openxmlformats.org/presentationml/2006/main">
  <p:tag name="KSO_WM_DIAGRAM_VIRTUALLY_FRAME" val="{&quot;height&quot;:339.84000000000003,&quot;left&quot;:43.2,&quot;top&quot;:128.16,&quot;width&quot;:873.359999999999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6466</Words>
  <Application>WPS 演示</Application>
  <PresentationFormat>On-screen Show (16:9)</PresentationFormat>
  <Paragraphs>505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微软雅黑</vt:lpstr>
      <vt:lpstr>Consolas</vt:lpstr>
      <vt:lpstr>Consolas</vt:lpstr>
      <vt:lpstr>Consolas</vt:lpstr>
      <vt:lpstr>Consolas</vt:lpstr>
      <vt:lpstr>Arial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SillySpec 能力亮点全景 · 2026-09-14</dc:title>
  <dc:creator>qinyi</dc:creator>
  <dc:subject>PptxGenJS Presentation</dc:subject>
  <cp:lastModifiedBy>对，我是奇迹。</cp:lastModifiedBy>
  <cp:revision>2</cp:revision>
  <dcterms:created xsi:type="dcterms:W3CDTF">2026-09-14T03:44:00Z</dcterms:created>
  <dcterms:modified xsi:type="dcterms:W3CDTF">2026-09-14T05:13:49Z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2A17915FC2644CDC8B766535D6C3ED0A_12</vt:lpwstr>
  </property>
</Properties>
</file>